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7541A6-8A87-47A5-8CDD-B6F5EFEEB662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485B79-BA54-4A8B-8A05-9A4720147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0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85B79-BA54-4A8B-8A05-9A4720147DF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619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0D6FF"/>
                </a:solidFill>
                <a:latin typeface="Aptos"/>
              </a:rPr>
              <a:t>Distributed Job Scheduler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C0CB"/>
                </a:solidFill>
                <a:latin typeface="Aptos"/>
              </a:rPr>
              <a:t>Multi-tenant, reliable background work 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4206240" cy="566928"/>
          </a:xfrm>
          <a:prstGeom prst="roundRect">
            <a:avLst/>
          </a:prstGeom>
          <a:solidFill>
            <a:srgbClr val="7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23113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71923"/>
                </a:solidFill>
                <a:latin typeface="Aptos"/>
              </a:rPr>
              <a:t>Build once. Execute reliably.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2103120"/>
            <a:ext cx="4937760" cy="566928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97880" y="223113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AF7FC"/>
                </a:solidFill>
                <a:latin typeface="Aptos"/>
              </a:rPr>
              <a:t>Spring Boot  •  PostgreSQL  • 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AF7FC"/>
                </a:solidFill>
                <a:latin typeface="Aptos"/>
              </a:rPr>
              <a:t>Durable queues, horizontally scalable workers, and recovery built into the job lifecycle.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0D6FF"/>
                </a:solidFill>
                <a:latin typeface="Aptos"/>
              </a:rPr>
              <a:t>The problem we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C0CB"/>
                </a:solidFill>
                <a:latin typeface="Aptos"/>
              </a:rPr>
              <a:t>Move slow, failure-prone work out of request paths while retaining control and visibility.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3200400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C177"/>
                </a:solidFill>
                <a:latin typeface="Aptos"/>
              </a:rPr>
              <a:t>Application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3017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7FC"/>
                </a:solidFill>
                <a:latin typeface="Aptos"/>
              </a:rPr>
              <a:t>Email, reports, ETL
webhooks and file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3200400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916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Aptos"/>
              </a:rPr>
              <a:t>Risk without a scheduler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21408"/>
            <a:ext cx="3017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7FC"/>
                </a:solidFill>
                <a:latin typeface="Aptos"/>
              </a:rPr>
              <a:t>Blocking requests
Lost work after failures
No retry audit trail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3200400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6916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Aptos"/>
              </a:rPr>
              <a:t>Scheduler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21408"/>
            <a:ext cx="3017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7FC"/>
                </a:solidFill>
                <a:latin typeface="Aptos"/>
              </a:rPr>
              <a:t>Asynchronous execution
Recovery and retries
Operator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0D6FF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C0CB"/>
                </a:solidFill>
                <a:latin typeface="Aptos"/>
              </a:rPr>
              <a:t>The API manages durable job state; independently scalable worker instances execute the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566928"/>
          </a:xfrm>
          <a:prstGeom prst="roundRect">
            <a:avLst/>
          </a:prstGeom>
          <a:solidFill>
            <a:srgbClr val="7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5681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71923"/>
                </a:solidFill>
                <a:latin typeface="Aptos"/>
              </a:rPr>
              <a:t>Browser /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828800"/>
            <a:ext cx="210312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46120" y="1956816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AF7FC"/>
                </a:solidFill>
                <a:latin typeface="Aptos"/>
              </a:rPr>
              <a:t>Spring Boot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828800"/>
            <a:ext cx="2103120" cy="566928"/>
          </a:xfrm>
          <a:prstGeom prst="roundRect">
            <a:avLst/>
          </a:prstGeom>
          <a:solidFill>
            <a:srgbClr val="20C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06440" y="1956816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71923"/>
                </a:solidFill>
                <a:latin typeface="Aptos"/>
              </a:rPr>
              <a:t>PostgreSQL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234440"/>
            <a:ext cx="2103120" cy="566928"/>
          </a:xfrm>
          <a:prstGeom prst="roundRect">
            <a:avLst/>
          </a:prstGeom>
          <a:solidFill>
            <a:srgbClr val="F6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362456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71923"/>
                </a:solidFill>
                <a:latin typeface="Aptos"/>
              </a:rPr>
              <a:t>Worker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468880"/>
            <a:ext cx="2103120" cy="566928"/>
          </a:xfrm>
          <a:prstGeom prst="roundRect">
            <a:avLst/>
          </a:prstGeom>
          <a:solidFill>
            <a:srgbClr val="F6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2596896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71923"/>
                </a:solidFill>
                <a:latin typeface="Aptos"/>
              </a:rPr>
              <a:t>Worker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3840480"/>
            <a:ext cx="2103120" cy="566928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06440" y="3968496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AF7FC"/>
                </a:solidFill>
                <a:latin typeface="Aptos"/>
              </a:rPr>
              <a:t>Schedulers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AF7FC"/>
                </a:solidFill>
                <a:latin typeface="Aptos"/>
              </a:rPr>
              <a:t>Users → projects → queues → jobs → executions, logs, and dead-letter snapshots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0D6FF"/>
                </a:solidFill>
                <a:latin typeface="Aptos"/>
              </a:rPr>
              <a:t>Durable job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C0CB"/>
                </a:solidFill>
                <a:latin typeface="Aptos"/>
              </a:rPr>
              <a:t>Every transition is persisted, making work observable and recoverable.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600200" cy="566928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04825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AF7FC"/>
                </a:solidFill>
                <a:latin typeface="Aptos"/>
              </a:rPr>
              <a:t>SCHEDULED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920240"/>
            <a:ext cx="1600200" cy="566928"/>
          </a:xfrm>
          <a:prstGeom prst="roundRect">
            <a:avLst/>
          </a:prstGeom>
          <a:solidFill>
            <a:srgbClr val="7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79" y="204825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71923"/>
                </a:solidFill>
                <a:latin typeface="Aptos"/>
              </a:rPr>
              <a:t>QUEUED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920240"/>
            <a:ext cx="1600200" cy="566928"/>
          </a:xfrm>
          <a:prstGeom prst="roundRect">
            <a:avLst/>
          </a:prstGeom>
          <a:solidFill>
            <a:srgbClr val="F6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59" y="204825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71923"/>
                </a:solidFill>
                <a:latin typeface="Aptos"/>
              </a:rPr>
              <a:t>CLAIMED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920240"/>
            <a:ext cx="160020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204825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AF7FC"/>
                </a:solidFill>
                <a:latin typeface="Aptos"/>
              </a:rPr>
              <a:t>RUNNING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920240"/>
            <a:ext cx="1600200" cy="56692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204825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71923"/>
                </a:solidFill>
                <a:latin typeface="Aptos"/>
              </a:rPr>
              <a:t>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920240"/>
            <a:ext cx="1600200" cy="56692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0" y="204825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AF7FC"/>
                </a:solidFill>
                <a:latin typeface="Aptos"/>
              </a:rPr>
              <a:t>DEAD LETTER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0040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AF7FC"/>
                </a:solidFill>
                <a:latin typeface="Aptos"/>
              </a:rPr>
              <a:t>Failure with retries remaining → SCHEDULED
Stale claim or running job → QUEUED
User cancellation and manual retry remain explicit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0D6FF"/>
                </a:solidFill>
                <a:latin typeface="Aptos"/>
              </a:rPr>
              <a:t>Safe concurrent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C0CB"/>
                </a:solidFill>
                <a:latin typeface="Aptos"/>
              </a:rPr>
              <a:t>PostgreSQL coordinates workers so they can scale horizontally without double-processing.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29000" cy="3383280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1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0D6FF"/>
                </a:solidFill>
                <a:latin typeface="Aptos"/>
              </a:rPr>
              <a:t>Atomic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3063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7FC"/>
                </a:solidFill>
                <a:latin typeface="Aptos"/>
              </a:rPr>
              <a:t>FOR UPDATE SKIP LOCKED
Priority first, then earliest schedule
No duplicate concurrent claim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29000" cy="3383280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4591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C177"/>
                </a:solidFill>
                <a:latin typeface="Aptos"/>
              </a:rPr>
              <a:t>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75688"/>
            <a:ext cx="3063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7FC"/>
                </a:solidFill>
                <a:latin typeface="Aptos"/>
              </a:rPr>
              <a:t>Up to 10 jobs claimed
Fixed pool of 10 threads
Handler runs after claim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429000" cy="3383280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1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Aptos"/>
              </a:rPr>
              <a:t>Self-healing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75688"/>
            <a:ext cx="3063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7FC"/>
                </a:solidFill>
                <a:latin typeface="Aptos"/>
              </a:rPr>
              <a:t>Heartbeat every 5 seconds
Stale claims requeued
Stale workers stopped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0D6FF"/>
                </a:solidFill>
                <a:latin typeface="Aptos"/>
              </a:rPr>
              <a:t>Scheduling and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C0CB"/>
                </a:solidFill>
                <a:latin typeface="Aptos"/>
              </a:rPr>
              <a:t>Immediate, delayed, batch, and recurring cron jobs are first-class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29000" cy="3383280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1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C5B5"/>
                </a:solidFill>
                <a:latin typeface="Aptos"/>
              </a:rPr>
              <a:t>Schedulers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3063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7FC"/>
                </a:solidFill>
                <a:latin typeface="Aptos"/>
              </a:rPr>
              <a:t>Job promoter: 1 second
Recurring materializer: 60 seconds
Stale-job reclaimer: 15 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29000" cy="3383280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4591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C177"/>
                </a:solidFill>
                <a:latin typeface="Aptos"/>
              </a:rPr>
              <a:t>Retry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75688"/>
            <a:ext cx="3063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7FC"/>
                </a:solidFill>
                <a:latin typeface="Aptos"/>
              </a:rPr>
              <a:t>Fixed, linear, exponential
Delay capped at 1 hour
Defaults inherited from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429000" cy="3383280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1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Aptos"/>
              </a:rPr>
              <a:t>Dead-letter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75688"/>
            <a:ext cx="3063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7FC"/>
                </a:solidFill>
                <a:latin typeface="Aptos"/>
              </a:rPr>
              <a:t>Exhausted jobs snapshot
Reason and payload retained
Manual requeue supported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0D6FF"/>
                </a:solidFill>
                <a:latin typeface="Aptos"/>
              </a:rPr>
              <a:t>Multi-tenant control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C0CB"/>
                </a:solidFill>
                <a:latin typeface="Aptos"/>
              </a:rPr>
              <a:t>Ownership is enforced from user through project and queue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828800" cy="566928"/>
          </a:xfrm>
          <a:prstGeom prst="roundRect">
            <a:avLst/>
          </a:prstGeom>
          <a:solidFill>
            <a:srgbClr val="7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568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71923"/>
                </a:solidFill>
                <a:latin typeface="Aptos"/>
              </a:rP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28800"/>
            <a:ext cx="1828800" cy="566928"/>
          </a:xfrm>
          <a:prstGeom prst="roundRect">
            <a:avLst/>
          </a:prstGeom>
          <a:solidFill>
            <a:srgbClr val="20C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37560" y="19568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71923"/>
                </a:solidFill>
                <a:latin typeface="Aptos"/>
              </a:rPr>
              <a:t>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828800"/>
            <a:ext cx="1828800" cy="566928"/>
          </a:xfrm>
          <a:prstGeom prst="roundRect">
            <a:avLst/>
          </a:prstGeom>
          <a:solidFill>
            <a:srgbClr val="F6C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15000" y="19568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71923"/>
                </a:solidFill>
                <a:latin typeface="Aptos"/>
              </a:rPr>
              <a:t>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182880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19568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AF7FC"/>
                </a:solidFill>
                <a:latin typeface="Aptos"/>
              </a:rPr>
              <a:t>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AF7FC"/>
                </a:solidFill>
                <a:latin typeface="Aptos"/>
              </a:rPr>
              <a:t>JWT authentication  •  BCrypt password hashing  •  API validation  •  Ownership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0D6FF"/>
                </a:solidFill>
                <a:latin typeface="Aptos"/>
              </a:rPr>
              <a:t>Operations and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C0CB"/>
                </a:solidFill>
                <a:latin typeface="Aptos"/>
              </a:rPr>
              <a:t>A browser dashboard exposes the system’s control plane and execution history.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3200400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0D6FF"/>
                </a:solidFill>
                <a:latin typeface="Aptos"/>
              </a:rPr>
              <a:t>Manage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30632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7FC"/>
                </a:solidFill>
                <a:latin typeface="Aptos"/>
              </a:rPr>
              <a:t>Projects and queues
Immediate and batch jobs
Recurring definitions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29000" cy="3200400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C5B5"/>
                </a:solidFill>
                <a:latin typeface="Aptos"/>
              </a:rP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21408"/>
            <a:ext cx="30632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7FC"/>
                </a:solidFill>
                <a:latin typeface="Aptos"/>
              </a:rPr>
              <a:t>Job state and logs
Attempt history
Worker status and heartbeats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429000" cy="3200400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C177"/>
                </a:solidFill>
                <a:latin typeface="Aptos"/>
              </a:rPr>
              <a:t>Recover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21408"/>
            <a:ext cx="30632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7FC"/>
                </a:solidFill>
                <a:latin typeface="Aptos"/>
              </a:rPr>
              <a:t>Retry failed work
Inspect DLQ entries
Requeue dead-lettered jobs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0D6FF"/>
                </a:solidFill>
                <a:latin typeface="Aptos"/>
              </a:rPr>
              <a:t>Run and validate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C0CB"/>
                </a:solidFill>
                <a:latin typeface="Aptos"/>
              </a:rPr>
              <a:t>Designed for local development, container deployment, and automated verification.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3017520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0D6FF"/>
                </a:solidFill>
                <a:latin typeface="Aptos"/>
              </a:rPr>
              <a:t>Start the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46634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EAF7FC"/>
                </a:solidFill>
                <a:latin typeface="Aptos"/>
              </a:rPr>
              <a:t>docker compose up </a:t>
            </a:r>
            <a:endParaRPr lang="en-US" sz="1300" dirty="0">
              <a:solidFill>
                <a:srgbClr val="EAF7FC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EAF7FC"/>
                </a:solidFill>
                <a:latin typeface="Aptos"/>
              </a:rPr>
              <a:t>Open http://localhost:8080
Create a user, project and queue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029200" cy="3017520"/>
          </a:xfrm>
          <a:prstGeom prst="roundRect">
            <a:avLst/>
          </a:prstGeom>
          <a:solidFill>
            <a:srgbClr val="10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69163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Aptos"/>
              </a:rPr>
              <a:t>Verify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21408"/>
            <a:ext cx="4663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7FC"/>
                </a:solidFill>
                <a:latin typeface="Aptos"/>
              </a:rPr>
              <a:t>./mvnw test
27 passing tests documented
H2-backed test configuration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0D6FF"/>
                </a:solidFill>
                <a:latin typeface="Aptos"/>
              </a:rPr>
              <a:t>Scale with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C0CB"/>
                </a:solidFill>
                <a:latin typeface="Aptos"/>
              </a:rPr>
              <a:t>The core provides durable coordination today; future hardening can focus on queue-level concurrency enforcement and production observability.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0332720" cy="566928"/>
          </a:xfrm>
          <a:prstGeom prst="roundRect">
            <a:avLst/>
          </a:prstGeom>
          <a:solidFill>
            <a:srgbClr val="7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414016"/>
            <a:ext cx="1024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71923"/>
                </a:solidFill>
                <a:latin typeface="Aptos"/>
              </a:rPr>
              <a:t>Reliable background work, with visibility, recovery, and horizontal worker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9476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9C0CB"/>
                </a:solidFill>
                <a:latin typeface="Aptos"/>
              </a:rPr>
              <a:t>Project documentation: scheduler/docs/PROJECT_DOCUMENTATION.md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491</Words>
  <Application>Microsoft Office PowerPoint</Application>
  <PresentationFormat>Widescreen</PresentationFormat>
  <Paragraphs>74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ayush kumar</cp:lastModifiedBy>
  <cp:revision>2</cp:revision>
  <dcterms:created xsi:type="dcterms:W3CDTF">2013-01-27T09:14:16Z</dcterms:created>
  <dcterms:modified xsi:type="dcterms:W3CDTF">2026-08-16T04:06:57Z</dcterms:modified>
  <cp:category/>
</cp:coreProperties>
</file>